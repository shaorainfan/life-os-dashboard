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今天的“人生设计工作坊”。在接下来的90分钟里，我们将一起探索如何像设计师一样，将我们的生活看作一个可以被设计、被创造的项目。无论你现在处于人生的哪个阶段，都能在这里找到新的可能性，学会把生活变成自己说了算的样子。让我们一起开启这段有趣的旅程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工作坊将分为四个阶段。首先，我们会通过“生命之轮”等工具帮助大家清晰地“看见现状”。接着，我们会通过一系列思维练习，帮助大家“打开可能”。然后，我们会进入核心的“原型实验”环节，将想法转化为具体的行动。最后，通过“共创对话”和“行动承诺”，为大家提供支持和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首先进入第一阶段：看见现状。第一个工具是“生命之轮”。请大家看屏幕上的这个图，它将我们的生活分成了八个重要维度。接下来，我会引导大家进行一个简单的练习，通过打分来直观地了解自己在各个方面的满意度。这没有对错，只有真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请大家拿出生命之轮模板。我们将用3分钟时间独立打分。记住，跟着你的第一感觉走。完成后，我们会进行小组分享，每个人用30秒分享你的最高分和最低分。最后，我们会一起看看集体的数据，发现一些有趣的洞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来做一个有趣的练习。首先，请大家回想那些让你感到充满能量的时刻，找到你的动力源。然后，我们再反过来，看看那些让你感到疲惫的痛点。我们将学习如何把这些痛点，转化为一个充满创造力的项目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这个例子。比如，痛点是“每周五晚上加班”，感到疲惫和焦虑。我们可以把它转化为一个项目，叫做“周五充电夜”，通过一些简单的仪式来创造属于自己的时间。同样，刷手机、家庭争吵、自我怀疑，这些痛点都可以被转化为积极的项目。现在，请大家尝试将自己的痛点进行转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进入第二阶段：打开可能。我们来玩一个“隐藏项目”的游戏。请大家转换视角，把自己当成一部电影的导演，你的生活挑战就是电影情节。通过思考导演、配乐、角色等问题，来重新构思你的故事，并为它起一个响亮的项目标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接下来是发散联想练习。我会给出一个随机词，比如“雨伞”，请大家尽可能多地说出相关的想法。这个练习的目的是打破我们的思维定式，让大脑跳出常规，产生意想不到的创意。准备好了吗？我们开始！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进入最核心的第三阶段：原型实验。在这里，我们将把想法付诸行动。你可以选择三种路径之一：信息访谈、体验式原型或小项目原型。无论选择哪种，都请记住我们的核心原则：实验要小、要快、要在一周内可以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请大家拿出A4纸，我们一起来填写这份《原型实验计划表》。请明确你的实验名称、类型，并写下你想要验证的假设。一个好的假设通常是“如果...那么...”的句式。最后，设定好执行时间和承诺，让你的实验能够真正落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第四阶段：共创式对话。这是一个非常宝贵的环节。我们将分组进行，每个人都有机会成为分享者和倾听者。分享者用2分钟分享你的困惑，倾听者则需要全神贯注地聆听，不打断，不评判。这是一个练习深度倾听和被听见的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在反馈阶段，倾听者可以参考屏幕上的这些问题来引导对话。重点是帮助分享者澄清想法、探索可能性，而不是直接给出解决方案。特别是最后两个核心问题，可以帮助分享者从新的视角看待自己的问题。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作坊即将结束，但我们的行动才刚刚开始。为了让今天的收获真正落地，请大家给自己三个行动承诺：今晚就设计一个小实验，本周去执行它，并在下周回到社群分享你的结果。记住，最重要的不是结果如何，而是行动本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现在，请大家拿出这张行动承诺清单。花几分钟时间，认真地写下你的承诺。这不仅仅是一份清单，更是你对自己未来一周的一个约定。请郑重地签上你的名字，让我们一起见证彼此的成长。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再次感谢大家今天的全情投入。工作坊的结束是新旅程的开始。如果在未来的实践中遇到任何困惑，或者想分享你的喜悦，都欢迎随时联系我。我非常乐意成为你们高共情的倾听者，并和大家一起探索更多可能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再次感谢大家的参与！希望今天的工作坊能成为大家人生设计旅程中的一个起点。愿我们都能把生活，过成自己喜欢的样子。谢谢大家！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30.png" Type="http://schemas.openxmlformats.org/officeDocument/2006/relationships/image"/><Relationship Id="rId17" Target="../media/image31.svg" Type="http://schemas.openxmlformats.org/officeDocument/2006/relationships/image"/><Relationship Id="rId18" Target="../media/image32.png" Type="http://schemas.openxmlformats.org/officeDocument/2006/relationships/image"/><Relationship Id="rId19" Target="../media/image33.svg" Type="http://schemas.openxmlformats.org/officeDocument/2006/relationships/image"/><Relationship Id="rId2" Target="../media/image8.jpeg" Type="http://schemas.openxmlformats.org/officeDocument/2006/relationships/image"/><Relationship Id="rId20" Target="../notesSlides/notesSlide3.xml" Type="http://schemas.openxmlformats.org/officeDocument/2006/relationships/notesSlide"/><Relationship Id="rId3" Target="../media/image17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4.jpe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37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38.jpe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39.jpe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jpeg" Type="http://schemas.openxmlformats.org/officeDocument/2006/relationships/image"/><Relationship Id="rId7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0.svg" Type="http://schemas.openxmlformats.org/officeDocument/2006/relationships/image"/><Relationship Id="rId11" Target="../notesSlides/notesSlide10.xml" Type="http://schemas.openxmlformats.org/officeDocument/2006/relationships/notesSlide"/><Relationship Id="rId2" Target="../media/image8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8.jpeg" Type="http://schemas.openxmlformats.org/officeDocument/2006/relationships/image"/><Relationship Id="rId3" Target="../media/image51.jpe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5.svg" Type="http://schemas.openxmlformats.org/officeDocument/2006/relationships/image"/><Relationship Id="rId11" Target="../notesSlides/notesSlide12.xml" Type="http://schemas.openxmlformats.org/officeDocument/2006/relationships/notesSlide"/><Relationship Id="rId2" Target="../media/image8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8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68.jpe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8.sv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8.jpeg" Type="http://schemas.openxmlformats.org/officeDocument/2006/relationships/image"/><Relationship Id="rId3" Target="../media/image71.png" Type="http://schemas.openxmlformats.org/officeDocument/2006/relationships/image"/><Relationship Id="rId4" Target="../media/image72.svg" Type="http://schemas.openxmlformats.org/officeDocument/2006/relationships/image"/><Relationship Id="rId5" Target="../media/image73.png" Type="http://schemas.openxmlformats.org/officeDocument/2006/relationships/image"/><Relationship Id="rId6" Target="../media/image74.svg" Type="http://schemas.openxmlformats.org/officeDocument/2006/relationships/image"/><Relationship Id="rId7" Target="../media/image75.png" Type="http://schemas.openxmlformats.org/officeDocument/2006/relationships/image"/><Relationship Id="rId8" Target="../media/image76.sv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79.png" Type="http://schemas.openxmlformats.org/officeDocument/2006/relationships/image"/><Relationship Id="rId4" Target="../media/image80.svg" Type="http://schemas.openxmlformats.org/officeDocument/2006/relationships/image"/><Relationship Id="rId5" Target="../media/image81.png" Type="http://schemas.openxmlformats.org/officeDocument/2006/relationships/image"/><Relationship Id="rId6" Target="../media/image82.svg" Type="http://schemas.openxmlformats.org/officeDocument/2006/relationships/image"/><Relationship Id="rId7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3.jpe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8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524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你的生活，由你设计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79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0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把生活变成你说了算的项目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19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46355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4445000"/>
            <a:ext cx="190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活动时长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90 分钟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419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62500" y="46355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588000" y="4445000"/>
            <a:ext cx="190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适宜人数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8 - 20 人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419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45500" y="46355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9271000" y="4445000"/>
            <a:ext cx="190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带领者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沐阳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工作坊流程概览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476500" cy="762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59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9210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看见现状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15 分钟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064000"/>
            <a:ext cx="2095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全景扫描 · 生命之轮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能量捕捉与痛点逆推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92500" y="1778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92500" y="1778000"/>
            <a:ext cx="2476500" cy="762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746500" y="2159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254500" y="2159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83000" y="29210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打开可能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15 分钟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83000" y="4064000"/>
            <a:ext cx="2095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隐藏项目 · Hidden Project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发散联想 · Divergent Thinking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778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1778000"/>
            <a:ext cx="2476500" cy="762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2159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2159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29210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原型实验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30 分钟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13500" y="4064000"/>
            <a:ext cx="2095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实操步骤详解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制定你的实验计划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953500" y="1778000"/>
            <a:ext cx="24765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953500" y="1778000"/>
            <a:ext cx="2476500" cy="762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207500" y="21590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715500" y="2159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144000" y="29210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共创对话与闭环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30 分钟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144000" y="4064000"/>
            <a:ext cx="2095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共创式深度对话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行动承诺与后续支持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第一阶段：看见现状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环节一：全景扫描 · 生命之轮 (Wheel of Life)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032000"/>
            <a:ext cx="3302000" cy="3302000"/>
          </a:xfrm>
          <a:prstGeom prst="roundRect">
            <a:avLst>
              <a:gd name="adj" fmla="val 6153"/>
            </a:avLst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55245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一个将生活划分为8个维度的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自我评估工具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2032000"/>
            <a:ext cx="6985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95000"/>
            </a:srgbClr>
          </a:solidFill>
          <a:ln w="25400" cmpd="sng" cap="flat">
            <a:solidFill>
              <a:srgbClr val="A7F3D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99000" y="22225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💡 什么是生命之轮？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它是一个强大的自我评估工具，将生活划分为8个核心维度，帮助你快速直观地看到生活全貌，发现哪些领域是你的能量来源，哪些领域需要更多关注与投入。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3429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3581400"/>
            <a:ext cx="279400" cy="279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953000" y="3556000"/>
            <a:ext cx="101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健康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身体状态、能量水平、心理健康与睡眠质量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3429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0" y="3581400"/>
            <a:ext cx="279400" cy="279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731000" y="3556000"/>
            <a:ext cx="101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财务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收入来源、储蓄习惯、消费管理与理财规划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3429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128000" y="3581400"/>
            <a:ext cx="279400" cy="279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509000" y="3556000"/>
            <a:ext cx="101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事业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职业发展路径、工作成就感、技能成长与价值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779000" y="3429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906000" y="3581400"/>
            <a:ext cx="279400" cy="279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0287000" y="3556000"/>
            <a:ext cx="101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家庭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亲密关系质量、家人情感支持、居住环境氛围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45000" y="5080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572000" y="5232400"/>
            <a:ext cx="279400" cy="279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4953000" y="5207000"/>
            <a:ext cx="101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社交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朋友社交网络、人际互动频率、社区归属感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5080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350000" y="5232400"/>
            <a:ext cx="279400" cy="279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731000" y="5207000"/>
            <a:ext cx="101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成长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新知识学习、兴趣爱好培养、自我突破与尝试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01000" y="5080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8128000" y="5232400"/>
            <a:ext cx="279400" cy="2794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8509000" y="5207000"/>
            <a:ext cx="101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情感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爱情亲密关系、伴侣亲密度、深层情感连接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779000" y="5080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9906000" y="5232400"/>
            <a:ext cx="279400" cy="2794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10287000" y="5207000"/>
            <a:ext cx="101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精神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个人核心价值观、内心平静感、人生的意义感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生命之轮操作指引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8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33600"/>
            <a:ext cx="279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175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独立打分 (3分钟)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064000"/>
            <a:ext cx="279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请拿出《生命之轮》模板和彩色笔。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跟着你的直觉，为每个维度打分 (0-10分)。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(0 = 非常不满意，10 = 非常满意)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  <a:spcBef>
                <a:spcPts val="1200"/>
              </a:spcBef>
            </a:pPr>
            <a:r>
              <a:rPr lang="en-US" b="true" i="false" strike="noStrike" u="none" sz="13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提醒：直觉优先，不要过度分析。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8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2032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133600"/>
            <a:ext cx="279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175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小组分享 (4分钟)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4064000"/>
            <a:ext cx="279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自由组合成 2-4 人的小组。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每人限时30秒，分享：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12700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1. 一个最高分维度 + 理由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12700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2. 一个最低分维度 + 理由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✨ 请认真倾听，不打断，不评判。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8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032000"/>
            <a:ext cx="2794000" cy="889000"/>
          </a:xfrm>
          <a:prstGeom prst="roundRect">
            <a:avLst>
              <a:gd name="adj" fmla="val 11428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2133600"/>
            <a:ext cx="279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3175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集体洞察 (5分钟)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82000" y="4064000"/>
            <a:ext cx="279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邀请3-5位参与者上台，共同填写集体数据图。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一起观察并探讨：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12700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👀 大家共同关注的维度有哪些？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12700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🚀 我们的共同成长机会点在哪里？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环节二：能量捕捉与痛点逆推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1590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133600"/>
            <a:ext cx="393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能量捕捉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找到内在动力源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175000"/>
            <a:ext cx="45974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回想过去一周，有没有那么几个时刻，你完全忘记了时间，忘记了压力，沉浸其中？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  <a:spcBef>
                <a:spcPts val="1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这些让你心流涌现的时刻，具体是什么场景？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是什么人、事、物，让你进入了那种全情投入的状态？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请试着写下1-2个这样闪闪发光的瞬间。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22574" b="22574"/>
          <a:stretch>
            <a:fillRect/>
          </a:stretch>
        </p:blipFill>
        <p:spPr>
          <a:xfrm rot="0" flipH="false" flipV="false">
            <a:off x="6223000" y="1778000"/>
            <a:ext cx="5207000" cy="1905000"/>
          </a:xfrm>
          <a:prstGeom prst="roundRect">
            <a:avLst>
              <a:gd name="adj" fmla="val 8000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39370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3911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痛点逆推：转化行动资源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4826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请再反过来思考：有没有哪些时刻，你感觉能量被完全吸干，甚至想立刻逃离？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如果这些让你疲惫、烦躁的“痛点”，可以变成一个你想要去解决的项目，它会是什么样子？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痛点逆推案例转化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0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06500" y="1841500"/>
            <a:ext cx="4508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⚡️ 痛点：每周五晚上加班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😔 情绪状态：疲惫 · 无奈 · 焦虑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🎯 转化方向：创造周五晚上的自我时间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📝 项目标题：《周五充电夜：10分钟清理 + 30分钟冥想》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13500" y="190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67500" y="1841500"/>
            <a:ext cx="4508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⚡️ 痛点：总是刷手机停不下来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😔 情绪状态：空虚 · 拖延 · 自责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🎯 转化方向：设计替代习惯，建立正向反馈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📝 项目标题：《无手机一小时：阅读 / 写作 / 运动》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44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06500" y="4381500"/>
            <a:ext cx="4508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⚡️ 痛点：和家人争吵不断，关系紧张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😔 情绪状态：愤怒 · 委屈 · 无力感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🎯 转化方向：创造专属沟通仪式，建立连接感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📝 项目标题：《每周家庭会议：15分钟深度对话》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13500" y="444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67500" y="4381500"/>
            <a:ext cx="4508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⚡️ 痛点：觉得自己一事无成，缺乏成就感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😔 情绪状态：自我怀疑 · 持续性焦虑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🎯 转化方向：设计“小成功”体验，重塑自信心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📝 项目标题：《每日三个小成就清单》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第二阶段：打开可能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066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环节三：隐藏项目 (Hidden Project)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4" b="24"/>
          <a:stretch>
            <a:fillRect/>
          </a:stretch>
        </p:blipFill>
        <p:spPr>
          <a:xfrm rot="0" flipH="false" flipV="false">
            <a:off x="762000" y="2159000"/>
            <a:ext cx="4572000" cy="3048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397500"/>
            <a:ext cx="4572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5524500"/>
            <a:ext cx="419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🎯 最终产出：浓缩项目标题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例如：“打造我的极简空间”、“建立每日充电仪式”、“创造我的理想周末”。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0" y="2159000"/>
            <a:ext cx="5588000" cy="1587500"/>
          </a:xfrm>
          <a:prstGeom prst="roundRect">
            <a:avLst>
              <a:gd name="adj" fmla="val 960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32500" y="2311400"/>
            <a:ext cx="520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思维转换：从“执行者”到“设计者”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想象你正在导演一部电影，而你生活中遇到的这个挑战，就是这部电影的核心情节。你会怎么设计这部电影？从被动应对，变为主动创作。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0" y="3937000"/>
            <a:ext cx="5588000" cy="24765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32500" y="4127500"/>
            <a:ext cx="5207000" cy="209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🎬 导演式提问清单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导演视角：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如果这件事是电影，你会怎么布景？氛围是轻松还是紧张？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音乐配曲：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这部电影的配乐是什么风格？是舒缓的轻音乐还是充满节奏感的摇滚？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角色与情节：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谁是主角/配角？故事的高潮在哪里？结局时主角蜕变成了什么样？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环节四：发散联想 (Divergent Thinking)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8770" b="8770"/>
          <a:stretch>
            <a:fillRect/>
          </a:stretch>
        </p:blipFill>
        <p:spPr>
          <a:xfrm rot="0" flipH="false" flipV="false">
            <a:off x="762000" y="1524000"/>
            <a:ext cx="5080000" cy="2794000"/>
          </a:xfrm>
          <a:prstGeom prst="roundRect">
            <a:avLst>
              <a:gd name="adj" fmla="val 5454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572000"/>
            <a:ext cx="5080000" cy="1778000"/>
          </a:xfrm>
          <a:prstGeom prst="roundRect">
            <a:avLst>
              <a:gd name="adj" fmla="val 8571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762500"/>
            <a:ext cx="457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创意练习：以“雨伞”为例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不设限地进行快速联想，越多越好！试着从形状、功能、场景、声音、触感等不同角度去思考。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524000"/>
            <a:ext cx="520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打破思维定式，激活创造力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通过引入与主题无关的随机词汇，激活大脑中原本不相关的神经通路，从而跳出常规框架，产生意想不到的新想法。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921000"/>
            <a:ext cx="1219200" cy="17145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3048000"/>
            <a:ext cx="9652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🌿 自然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雨伞 / 落叶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海洋 / 山脉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森林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32700" y="2921000"/>
            <a:ext cx="1219200" cy="17145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759700" y="3048000"/>
            <a:ext cx="9652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📦 物品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旧衣 / 咖啡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钥匙 / 背包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镜子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042400" y="2921000"/>
            <a:ext cx="1219200" cy="17145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69400" y="3048000"/>
            <a:ext cx="9652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🚌 交通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公交 / 地铁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单车 / 飞机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轮船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388600" y="2921000"/>
            <a:ext cx="1219200" cy="17145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515600" y="3048000"/>
            <a:ext cx="9652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🏠 空间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房间 / 厨房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走廊 / 阳台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车库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889500"/>
            <a:ext cx="1219200" cy="17145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5016500"/>
            <a:ext cx="9652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⏰ 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早晨 / 周末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午夜 / 黎明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黄昏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32700" y="4889500"/>
            <a:ext cx="1219200" cy="17145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759700" y="5016500"/>
            <a:ext cx="9652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🍞 食物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面包 / 水果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面条 / 甜点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香料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42400" y="4889500"/>
            <a:ext cx="1219200" cy="17145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169400" y="5016500"/>
            <a:ext cx="9652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🎨 颜色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红色 / 蓝色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绿色 / 金色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银色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388600" y="4889500"/>
            <a:ext cx="1219200" cy="17145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515600" y="5016500"/>
            <a:ext cx="9652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🏃 动作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跑步 / 跳舞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游泳 / 飞行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攀爬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第三阶段：原型实验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06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实操步骤详解：选择适合你的行动路径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14148" b="14148"/>
          <a:stretch>
            <a:fillRect/>
          </a:stretch>
        </p:blipFill>
        <p:spPr>
          <a:xfrm rot="0" flipH="false" flipV="false">
            <a:off x="952500" y="2222500"/>
            <a:ext cx="2921000" cy="1397000"/>
          </a:xfrm>
          <a:prstGeom prst="roundRect">
            <a:avLst>
              <a:gd name="adj" fmla="val 7272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952500" y="37465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/ 信息访谈 (Information Interview)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对某个领域不了解，想获取真实、一手的从业信息。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访谈一位资深设计师，了解自由职业的真实工作与收入情况。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032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35500" y="2222500"/>
            <a:ext cx="2921000" cy="1397000"/>
          </a:xfrm>
          <a:prstGeom prst="roundRect">
            <a:avLst>
              <a:gd name="adj" fmla="val 7272"/>
            </a:avLst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080000" y="2514600"/>
            <a:ext cx="762000" cy="762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969000" y="2413000"/>
            <a:ext cx="139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亲身</a:t>
            </a: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试错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35500" y="37465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/ 体验式原型 (Experience Prototype)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想尝试一个新行为或生活方式，直观感受其带来的变化与效果。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连续三天尝试早起一小时去跑步，真实感受身体和精神状态的变化。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032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14148" b="14148"/>
          <a:stretch>
            <a:fillRect/>
          </a:stretch>
        </p:blipFill>
        <p:spPr>
          <a:xfrm rot="0" flipH="false" flipV="false">
            <a:off x="8318500" y="2222500"/>
            <a:ext cx="2921000" cy="1397000"/>
          </a:xfrm>
          <a:prstGeom prst="roundRect">
            <a:avLst>
              <a:gd name="adj" fmla="val 7272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8318500" y="37465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/ 小项目原型 (Project Prototype)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想通过创造一个实际的微小成果，建立新习惯或完成一次微挑战。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创建并坚持一周“每日感恩清单”，或用三天完成一个个人技能分享的PPT。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9055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6032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核心原则：实验要“小” · 要“快” · 要“可完成”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原型实验计划表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587500"/>
            <a:ext cx="279400" cy="279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22400" y="1549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基础信息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159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实验名称：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_______________________________ (给你的实验起个名字)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实验类型：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□ 信息访谈 □ 体验式原型 □ 小项目验证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397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587500"/>
            <a:ext cx="279400" cy="279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883400" y="1549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核心逻辑与时间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159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验证假设：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“如果 ____________________ ，那么 ____________________ 。”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执行周期：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开始：_______ / 结束：_______ (建议不超过1周)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6830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911600"/>
            <a:ext cx="279400" cy="279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22400" y="3873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结果与反馈追踪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445000"/>
            <a:ext cx="4699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预期结果：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________________________ (用户行为改变 / 数据指标 / 关键结论)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反馈记录：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📅 第1次：______ | 💬 感受/发现：_________________________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📅 第2次：______ | 💬 感受/发现：_________________________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6830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911600"/>
            <a:ext cx="279400" cy="279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83400" y="3873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我的行动承诺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572000"/>
            <a:ext cx="469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☑ 本周内选定题目并正式开始执行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☑ 每一次沟通/测试后，及时记录真实反馈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☑ 实验结束后，在团队/社群分享结果与反思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33333"/>
              </a:lnSpc>
              <a:spcBef>
                <a:spcPts val="1000"/>
              </a:spcBef>
            </a:pPr>
            <a:r>
              <a:rPr lang="en-US" b="false" i="tru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“Just Do It! 不要让完美成为优秀的敌人”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第四阶段：共创式对话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4688" r="14688" t="0" b="0"/>
          <a:stretch>
            <a:fillRect/>
          </a:stretch>
        </p:blipFill>
        <p:spPr>
          <a:xfrm rot="0" flipH="false" flipV="false">
            <a:off x="762000" y="1778000"/>
            <a:ext cx="4572000" cy="4318000"/>
          </a:xfrm>
          <a:prstGeom prst="roundRect">
            <a:avLst>
              <a:gd name="adj" fmla="val 470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842000" y="1778000"/>
            <a:ext cx="558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96000" y="20320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858000" y="1930400"/>
            <a:ext cx="43180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角色分配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分享者 (1人/组)：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坦诚分享当前的工作困扰、挑战或新想法。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倾听者 (1-2人/组)：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放下己见，全情投入，提供反馈与支持。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42000" y="3429000"/>
            <a:ext cx="558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0" y="36830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858000" y="3581400"/>
            <a:ext cx="43180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时间分配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4分钟/轮：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分享者陈述困惑 (2分钟) + 倾听者全神贯注聆听 (2分钟)。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2分钟反馈：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倾听者提问澄清，不急于给建议，帮助梳理思路。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0" y="5080000"/>
            <a:ext cx="558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96000" y="53340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858000" y="5232400"/>
            <a:ext cx="43180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严格守时，不打断；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倾听者“先理解，后建议”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营造安全空间，分享者只需真实表达，不必追求完美。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对话引导问题库（供倾听者使用）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006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澄清类问题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“你能多说说这一点吗？”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“这对你来说意味着什么？”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43500" y="2006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探索类问题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2794000"/>
            <a:ext cx="279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“如果这件事是一个项目，你希望它变成什么样？”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“你之前做过类似的尝试吗？有什么经验？”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826500" y="2006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行动类问题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82000" y="2921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“下一步，你觉得可以做的一小步是什么？”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953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A7F3D0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651000" y="5232400"/>
            <a:ext cx="177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</a:t>
            </a:r>
            <a:r>
              <a:rPr lang="en-US" b="true" i="false" strike="noStrike" u="none" sz="22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22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2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提问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683000" y="5270500"/>
            <a:ext cx="3810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1. “我现在听到的最打动我的一点是什么？”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引导分享者回顾对话中最有价值的部分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0" y="5270500"/>
            <a:ext cx="355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2. “如果这是你的项目，你会怎么做？”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将视角切换到“所有者”模式，激发主观能动性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分享与闭环：行动承诺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为了让今天的收获持续发酵，请给自己三个行动承诺：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3302000" cy="762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540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87500" y="25146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/ 今晚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（5分钟内完成）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429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列出 3 件你觉得“不得不做”的事情。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从中挑选 1 件，为它设计一个可落地的“微型实验”。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159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2159000"/>
            <a:ext cx="3302000" cy="76200"/>
          </a:xfrm>
          <a:prstGeom prst="roundRect">
            <a:avLst>
              <a:gd name="adj" fmla="val 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540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70500" y="25146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/ 本周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（执行实验）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3429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去真正执行你设计好的原型实验。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无论最终结果成功还是失败，认真记录下过程中的感受与发现。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159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rcRect l="0" r="0" t="9635" b="9635"/>
          <a:stretch>
            <a:fillRect/>
          </a:stretch>
        </p:blipFill>
        <p:spPr>
          <a:xfrm rot="0" flipH="false" flipV="false">
            <a:off x="8128000" y="2159000"/>
            <a:ext cx="3302000" cy="1778000"/>
          </a:xfrm>
          <a:prstGeom prst="roundRect">
            <a:avLst>
              <a:gd name="adj" fmla="val 8571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82000" y="41910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890000" y="4165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/ 下周 · 社群分享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4953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在我们的学习社群里分享你的实验结果。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记住：行动与反馈本身，比单纯的成功更宝贵。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行动承诺清单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762000"/>
          </a:xfrm>
          <a:prstGeom prst="roundRect">
            <a:avLst>
              <a:gd name="adj" fmla="val 2000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288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1778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今晚 · 5分钟内完成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667000"/>
            <a:ext cx="2921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_________________________________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_________________________________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_________________________________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  <a:spcBef>
                <a:spcPts val="1200"/>
              </a:spcBef>
            </a:pPr>
            <a:r>
              <a:rPr lang="en-US" b="true" i="false" strike="noStrike" u="none" sz="14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选择实验的：_____（填写编号）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762000"/>
          </a:xfrm>
          <a:prstGeom prst="roundRect">
            <a:avLst>
              <a:gd name="adj" fmla="val 2000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8288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080000" y="1778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本周 · 执行实验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2667000"/>
            <a:ext cx="2921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实验内容：_________________________________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执行时间：_________________________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  <a:spcBef>
                <a:spcPts val="1000"/>
              </a:spcBef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记录反馈：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日期：______ | 感受：____________________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651000"/>
            <a:ext cx="3302000" cy="762000"/>
          </a:xfrm>
          <a:prstGeom prst="roundRect">
            <a:avLst>
              <a:gd name="adj" fmla="val 20000"/>
            </a:avLst>
          </a:prstGeom>
          <a:solidFill>
            <a:srgbClr val="A7F3D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18288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763000" y="1778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下周 · 社群分享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2667000"/>
            <a:ext cx="2921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分享主题：_________________________________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完成时间：_________________________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16666"/>
              </a:lnSpc>
              <a:spcBef>
                <a:spcPts val="2400"/>
              </a:spcBef>
            </a:pPr>
            <a:r>
              <a:rPr lang="en-US" b="false" i="tru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“ 用输出倒逼输入 ”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461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753100"/>
            <a:ext cx="558800" cy="558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2032000" y="5715000"/>
            <a:ext cx="914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我的承诺签名：</a:t>
            </a: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____________________________________________________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结尾邀请与后续支持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感谢大家的投入与分享！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如果你在未来遇到了困难，或者想要分享你的实验结果，欢迎随时找我。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5207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984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9464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我能提供的价值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3810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🌿 高共情的倾听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帮你梳理情绪，看见问题的本质，让你的心声被听见。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5080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🔍 可能性视角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跳出固有思维，帮你从看似无解的困境中找到新的机会和路径。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667000"/>
            <a:ext cx="5207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984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12000" y="29464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后续支持方式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40500" y="3810000"/>
            <a:ext cx="4572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💬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社群分享：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加入专属微信群，与志同道合的伙伴持续互动交流。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🤝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个人咨询：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提供深度的一对一复盘教练服务，解决具体问题。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📚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资源更新：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定期收到精选的自我成长工具、方法论和真实案例。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651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谢谢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921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愿你把生活，过成自己喜欢的样子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4064000"/>
            <a:ext cx="1016000" cy="63500"/>
          </a:xfrm>
          <a:prstGeom prst="roundRect">
            <a:avLst>
              <a:gd name="adj" fmla="val 40000"/>
            </a:avLst>
          </a:prstGeom>
          <a:solidFill>
            <a:srgbClr val="FBBF2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